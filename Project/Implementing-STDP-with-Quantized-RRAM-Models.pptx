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1" r:id="rId9"/>
    <p:sldId id="265" r:id="rId10"/>
    <p:sldId id="266" r:id="rId11"/>
  </p:sldIdLst>
  <p:sldSz cx="14630400" cy="8229600"/>
  <p:notesSz cx="8229600" cy="14630400"/>
  <p:embeddedFontLst>
    <p:embeddedFont>
      <p:font typeface="Alexandria Semi Bold" panose="020B0604020202020204" charset="-78"/>
      <p:regular r:id="rId13"/>
    </p:embeddedFont>
    <p:embeddedFont>
      <p:font typeface="Sora L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C3765E-AEB3-4D5D-945A-7301A55434E0}">
          <p14:sldIdLst>
            <p14:sldId id="256"/>
            <p14:sldId id="257"/>
            <p14:sldId id="258"/>
            <p14:sldId id="259"/>
            <p14:sldId id="260"/>
            <p14:sldId id="262"/>
            <p14:sldId id="264"/>
            <p14:sldId id="261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FF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440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90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nature.com/articles/s41467-018-07757-y#ref-CR1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gif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467-018-07757-y" TargetMode="External"/><Relationship Id="rId2" Type="http://schemas.openxmlformats.org/officeDocument/2006/relationships/hyperlink" Target="https://doi.org/10.5772/intechopen.85301" TargetMode="Externa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jneurosci.org/content/jneuro/18/24/10464.ful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3208" y="0"/>
            <a:ext cx="6107192" cy="8229600"/>
          </a:xfrm>
          <a:prstGeom prst="rect">
            <a:avLst/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86458" y="488107"/>
            <a:ext cx="7627382" cy="393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Demonstration of STDP Learning Rule using RRAM</a:t>
            </a:r>
            <a:endParaRPr lang="en-US" sz="61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48242" y="480911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  <a:latin typeface="Alexandria Light"/>
                <a:ea typeface="Sora Light" pitchFamily="34" charset="-122"/>
                <a:cs typeface="Sora Light" pitchFamily="34" charset="-120"/>
              </a:rPr>
              <a:t>EE658 Memory Devices and Technology</a:t>
            </a:r>
          </a:p>
          <a:p>
            <a:pPr marL="0" indent="0" algn="l">
              <a:buNone/>
            </a:pPr>
            <a:endParaRPr lang="en-US" sz="600" dirty="0">
              <a:solidFill>
                <a:schemeClr val="bg1"/>
              </a:solidFill>
              <a:latin typeface="Alexandria Light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  <a:latin typeface="Alexandria Light"/>
                <a:ea typeface="Sora Light" pitchFamily="34" charset="-122"/>
                <a:cs typeface="Sora Light" pitchFamily="34" charset="-120"/>
              </a:rPr>
              <a:t>Advisor: Prof. Sandip </a:t>
            </a:r>
            <a:r>
              <a:rPr lang="en-US" sz="3200" dirty="0" err="1">
                <a:solidFill>
                  <a:schemeClr val="bg1"/>
                </a:solidFill>
                <a:latin typeface="Alexandria Light"/>
                <a:ea typeface="Sora Light" pitchFamily="34" charset="-122"/>
                <a:cs typeface="Sora Light" pitchFamily="34" charset="-120"/>
              </a:rPr>
              <a:t>Lashkare</a:t>
            </a:r>
            <a:r>
              <a:rPr lang="en-US" sz="3200" dirty="0">
                <a:solidFill>
                  <a:schemeClr val="bg1"/>
                </a:solidFill>
                <a:latin typeface="Alexandria Light"/>
                <a:ea typeface="Sora Light" pitchFamily="34" charset="-122"/>
                <a:cs typeface="Sora Light" pitchFamily="34" charset="-120"/>
              </a:rPr>
              <a:t> 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chemeClr val="bg1"/>
              </a:solidFill>
              <a:latin typeface="Alexandria Light"/>
              <a:ea typeface="Sora Light" pitchFamily="34" charset="-122"/>
              <a:cs typeface="Sora Ligh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Alexandria Light"/>
                <a:cs typeface="Sora Light" pitchFamily="34" charset="-120"/>
              </a:rPr>
              <a:t>Hriday Pandya 23110136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Alexandria Light"/>
                <a:cs typeface="Sora Light" pitchFamily="34" charset="-120"/>
              </a:rPr>
              <a:t>Nirjara Mehta 23110220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Alexandria Light"/>
                <a:cs typeface="Sora Light" pitchFamily="34" charset="-120"/>
              </a:rPr>
              <a:t>Parth Dembla 23110234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chemeClr val="bg1"/>
              </a:solidFill>
              <a:latin typeface="Alexandria Light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chemeClr val="bg1"/>
              </a:solidFill>
              <a:latin typeface="Alexandria Ligh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58309" y="7203638"/>
            <a:ext cx="3135273" cy="422315"/>
          </a:xfrm>
          <a:prstGeom prst="roundRect">
            <a:avLst>
              <a:gd name="adj" fmla="val 17238"/>
            </a:avLst>
          </a:prstGeom>
          <a:noFill/>
          <a:ln w="7620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44E560-6E66-780E-10DF-444806969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112" y="2051845"/>
            <a:ext cx="5681225" cy="41259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5364" y="0"/>
            <a:ext cx="5995036" cy="8229600"/>
          </a:xfrm>
          <a:prstGeom prst="rect">
            <a:avLst/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14935" y="667617"/>
            <a:ext cx="7698581" cy="135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Why Mimic the Brain in Hardware?</a:t>
            </a:r>
            <a:endParaRPr lang="en-US" sz="425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314935" y="2395418"/>
            <a:ext cx="7698581" cy="12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brain performs </a:t>
            </a:r>
            <a:r>
              <a:rPr lang="en-US" sz="1600" b="1" i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~10¹⁶ synaptic operations per second </a:t>
            </a:r>
            <a:r>
              <a:rPr lang="en-US" sz="1600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 roughly 20W — a feat no conventional Von Neumann architecture can match. Neuromorphic engineering bridges neuroscience and hardware design, embedding learning directly into silicon.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14935" y="3906917"/>
            <a:ext cx="3750826" cy="1853327"/>
          </a:xfrm>
          <a:prstGeom prst="roundRect">
            <a:avLst>
              <a:gd name="adj" fmla="val 468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529010" y="4120991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Parallelism</a:t>
            </a:r>
            <a:endParaRPr lang="en-US" sz="2100" b="1" dirty="0"/>
          </a:p>
        </p:txBody>
      </p:sp>
      <p:sp>
        <p:nvSpPr>
          <p:cNvPr id="8" name="Text 5"/>
          <p:cNvSpPr/>
          <p:nvPr/>
        </p:nvSpPr>
        <p:spPr>
          <a:xfrm>
            <a:off x="529010" y="4578548"/>
            <a:ext cx="3322677" cy="96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Billions of neurons fire simultaneously, enabling massive real-time computation.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62572" y="3906917"/>
            <a:ext cx="3750945" cy="1853327"/>
          </a:xfrm>
          <a:prstGeom prst="roundRect">
            <a:avLst>
              <a:gd name="adj" fmla="val 468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476646" y="4120991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Co-located Memory</a:t>
            </a:r>
            <a:endParaRPr lang="en-US" sz="2100" b="1" dirty="0"/>
          </a:p>
        </p:txBody>
      </p:sp>
      <p:sp>
        <p:nvSpPr>
          <p:cNvPr id="11" name="Text 8"/>
          <p:cNvSpPr/>
          <p:nvPr/>
        </p:nvSpPr>
        <p:spPr>
          <a:xfrm>
            <a:off x="4476646" y="4578548"/>
            <a:ext cx="3322796" cy="96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Memory and computation share the same physical substrate — no data movement bottleneck.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14935" y="5957054"/>
            <a:ext cx="7698581" cy="1530787"/>
          </a:xfrm>
          <a:prstGeom prst="roundRect">
            <a:avLst>
              <a:gd name="adj" fmla="val 566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29010" y="6171128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Synapse</a:t>
            </a:r>
            <a:endParaRPr lang="en-US" sz="2100" b="1" dirty="0"/>
          </a:p>
        </p:txBody>
      </p:sp>
      <p:sp>
        <p:nvSpPr>
          <p:cNvPr id="14" name="Text 11"/>
          <p:cNvSpPr/>
          <p:nvPr/>
        </p:nvSpPr>
        <p:spPr>
          <a:xfrm>
            <a:off x="529010" y="6628686"/>
            <a:ext cx="7270432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core unit of learning: a tunable connection whose strength encodes information.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8C5B56-5B69-1178-4A42-A48AA5B64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593" y="4406920"/>
            <a:ext cx="5598578" cy="299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EC52091-F3CD-0C0E-19FA-64909762126B}"/>
              </a:ext>
            </a:extLst>
          </p:cNvPr>
          <p:cNvSpPr txBox="1"/>
          <p:nvPr/>
        </p:nvSpPr>
        <p:spPr>
          <a:xfrm>
            <a:off x="8759450" y="7475848"/>
            <a:ext cx="587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lexandria Light"/>
                <a:cs typeface="Sora Light" panose="020B0604020202020204" charset="0"/>
              </a:rPr>
              <a:t>a) Von Neumann Architecture b) Neuromorphic Architecture [2]</a:t>
            </a:r>
          </a:p>
        </p:txBody>
      </p:sp>
      <p:pic>
        <p:nvPicPr>
          <p:cNvPr id="1028" name="Picture 4" descr="Neuromorphic Hardware and Computing 2024">
            <a:extLst>
              <a:ext uri="{FF2B5EF4-FFF2-40B4-BE49-F238E27FC236}">
                <a16:creationId xmlns:a16="http://schemas.microsoft.com/office/drawing/2014/main" id="{B408DFA9-B9AC-2792-6880-BC4FD312E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593" y="301186"/>
            <a:ext cx="5598577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78FF10-E5EB-8203-5F22-367150739E2D}"/>
              </a:ext>
            </a:extLst>
          </p:cNvPr>
          <p:cNvSpPr txBox="1"/>
          <p:nvPr/>
        </p:nvSpPr>
        <p:spPr>
          <a:xfrm>
            <a:off x="8759450" y="3586724"/>
            <a:ext cx="587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lexandria Light"/>
                <a:cs typeface="Sora Light" panose="020B0604020202020204" charset="0"/>
              </a:rPr>
              <a:t>Neuromorphic Computing inspired by the Human Brain, synapses and neurons [I].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1B80188B-28AF-823B-1A92-C08CCC69F7B9}"/>
              </a:ext>
            </a:extLst>
          </p:cNvPr>
          <p:cNvSpPr/>
          <p:nvPr/>
        </p:nvSpPr>
        <p:spPr>
          <a:xfrm>
            <a:off x="1669684" y="5437115"/>
            <a:ext cx="5237559" cy="820698"/>
          </a:xfrm>
          <a:prstGeom prst="roundRect">
            <a:avLst>
              <a:gd name="adj" fmla="val 8913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459398" y="556481"/>
            <a:ext cx="10572869" cy="95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300"/>
              </a:lnSpc>
            </a:pPr>
            <a:r>
              <a:rPr lang="en-US" sz="4250" dirty="0">
                <a:solidFill>
                  <a:schemeClr val="bg1"/>
                </a:solidFill>
                <a:latin typeface="Alexandria Semi Bold" pitchFamily="34" charset="0"/>
                <a:cs typeface="Alexandria Semi Bold" pitchFamily="34" charset="-120"/>
              </a:rPr>
              <a:t>Biological Foundation: Spike-Timing-Dependent Plasticity</a:t>
            </a:r>
          </a:p>
        </p:txBody>
      </p:sp>
      <p:sp>
        <p:nvSpPr>
          <p:cNvPr id="3" name="Text 1"/>
          <p:cNvSpPr/>
          <p:nvPr/>
        </p:nvSpPr>
        <p:spPr>
          <a:xfrm>
            <a:off x="508826" y="2445034"/>
            <a:ext cx="7030392" cy="46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Temporal Connection Strengthens Synapses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8826" y="2967574"/>
            <a:ext cx="7813371" cy="95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Hebb's rule: synapses strengthen when pre- and post-synaptic neurons fire in close temporal proximity. STDP </a:t>
            </a:r>
            <a:r>
              <a:rPr lang="en-US" dirty="0" err="1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formalises</a:t>
            </a:r>
            <a:r>
              <a:rPr lang="en-US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this through the timing difference </a:t>
            </a:r>
            <a:r>
              <a:rPr lang="en-US" i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Δ= </a:t>
            </a:r>
            <a:r>
              <a:rPr lang="en-US" i="1" dirty="0" err="1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</a:t>
            </a:r>
            <a:r>
              <a:rPr lang="en-US" i="1" baseline="-25000" dirty="0" err="1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post</a:t>
            </a:r>
            <a:r>
              <a:rPr lang="en-US" i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 </a:t>
            </a:r>
            <a:r>
              <a:rPr lang="en-US" i="1" dirty="0" err="1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</a:t>
            </a:r>
            <a:r>
              <a:rPr lang="en-US" i="1" baseline="-25000" dirty="0" err="1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</a:t>
            </a:r>
            <a:r>
              <a:rPr lang="en-US" i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i="1" baseline="-25000" dirty="0">
              <a:solidFill>
                <a:schemeClr val="bg1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853279" y="5582446"/>
            <a:ext cx="2894290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LTP — Long-Term Potentiation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853279" y="5880460"/>
            <a:ext cx="4870371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 fires </a:t>
            </a:r>
            <a:r>
              <a:rPr lang="en-US" sz="11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before</a:t>
            </a: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post (</a:t>
            </a:r>
            <a:r>
              <a:rPr lang="en-US" sz="11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\Delta t &gt; 0</a:t>
            </a: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): synapse strengthens.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692545" y="6671868"/>
            <a:ext cx="5237559" cy="820698"/>
          </a:xfrm>
          <a:prstGeom prst="roundRect">
            <a:avLst>
              <a:gd name="adj" fmla="val 8913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1898999" y="6832602"/>
            <a:ext cx="2779752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LTD — Long-Term Depression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98999" y="7130616"/>
            <a:ext cx="4870371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 fires </a:t>
            </a:r>
            <a:r>
              <a:rPr lang="en-US" sz="11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after</a:t>
            </a: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post (</a:t>
            </a:r>
            <a:r>
              <a:rPr lang="en-US" sz="11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\Delta t &lt; 0</a:t>
            </a: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): synapse weakens.</a:t>
            </a:r>
            <a:endParaRPr lang="en-US" sz="11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BD79D483-7FBA-8599-D288-4523155F7DCA}"/>
              </a:ext>
            </a:extLst>
          </p:cNvPr>
          <p:cNvSpPr/>
          <p:nvPr/>
        </p:nvSpPr>
        <p:spPr>
          <a:xfrm>
            <a:off x="500586" y="4330943"/>
            <a:ext cx="7918483" cy="46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learning rule can be implemented in hardware using resistive networks: RRAM 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056E499-4411-4D99-649D-9D685EF3C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5315" y="1969613"/>
            <a:ext cx="5830308" cy="331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A32688-0C64-070B-A4E3-E4BCDFF57594}"/>
              </a:ext>
            </a:extLst>
          </p:cNvPr>
          <p:cNvSpPr txBox="1"/>
          <p:nvPr/>
        </p:nvSpPr>
        <p:spPr>
          <a:xfrm>
            <a:off x="8565316" y="5651263"/>
            <a:ext cx="58303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  <a:cs typeface="Sora Light" panose="020B0604020202020204" charset="0"/>
              </a:rPr>
              <a:t>STDP implementation. Relative timing of the pre- and post-synaptic spikes for performing </a:t>
            </a:r>
            <a:r>
              <a:rPr lang="en-US" b="1" i="0" dirty="0">
                <a:solidFill>
                  <a:schemeClr val="bg1"/>
                </a:solidFill>
                <a:effectLst/>
                <a:latin typeface="Alexandria Light"/>
                <a:cs typeface="Sora Light" panose="020B0604020202020204" charset="0"/>
              </a:rPr>
              <a:t>a</a:t>
            </a:r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  <a:cs typeface="Sora Light" panose="020B0604020202020204" charset="0"/>
              </a:rPr>
              <a:t> potentiation and </a:t>
            </a:r>
            <a:r>
              <a:rPr lang="en-US" b="1" i="0" dirty="0">
                <a:solidFill>
                  <a:schemeClr val="bg1"/>
                </a:solidFill>
                <a:effectLst/>
                <a:latin typeface="Alexandria Light"/>
                <a:cs typeface="Sora Light" panose="020B0604020202020204" charset="0"/>
              </a:rPr>
              <a:t>b</a:t>
            </a:r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  <a:cs typeface="Sora Light" panose="020B0604020202020204" charset="0"/>
              </a:rPr>
              <a:t> depression of the synaptic weight for the memristor-based implementation</a:t>
            </a:r>
            <a:r>
              <a:rPr lang="en-US" b="0" i="0" baseline="30000" dirty="0">
                <a:solidFill>
                  <a:schemeClr val="bg1"/>
                </a:solidFill>
                <a:effectLst/>
                <a:latin typeface="Alexandria Light"/>
                <a:cs typeface="Sora Light" panose="020B0604020202020204" charset="0"/>
                <a:hlinkClick r:id="rId4" tooltip="Linares-Barranco, B. &amp; Serrano-Gotarredona, T. Memristance can explain spike-timing-dependent plasticity in neural synapses. Nat. Preced. &#10;                  http://precedings.nature.com/documents/3010/version/1&#10;                  &#10;                 (2009)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  <a:cs typeface="Sora Light" panose="020B0604020202020204" charset="0"/>
              </a:rPr>
              <a:t>, resulting in </a:t>
            </a:r>
            <a:r>
              <a:rPr lang="en-US" b="1" i="0" dirty="0">
                <a:solidFill>
                  <a:schemeClr val="bg1"/>
                </a:solidFill>
                <a:effectLst/>
                <a:latin typeface="Alexandria Light"/>
                <a:cs typeface="Sora Light" panose="020B0604020202020204" charset="0"/>
              </a:rPr>
              <a:t>c</a:t>
            </a:r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  <a:cs typeface="Sora Light" panose="020B0604020202020204" charset="0"/>
              </a:rPr>
              <a:t> the specific STDP, which is commonly observed in biology [3].</a:t>
            </a:r>
            <a:endParaRPr lang="en-IN" dirty="0">
              <a:solidFill>
                <a:schemeClr val="bg1"/>
              </a:solidFill>
              <a:latin typeface="Alexandria Light"/>
              <a:cs typeface="Sora Light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3196" y="416600"/>
            <a:ext cx="12064008" cy="701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Hardware Implementation: The RRAM Cell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135225" y="2403410"/>
            <a:ext cx="2240562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Resistive RAM as a Memristor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176031" y="2936262"/>
            <a:ext cx="4467377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RRAM is a two-terminal device whose resistance depends on the history of applied voltage — a physical realization of the memristor. Conductance </a:t>
            </a:r>
            <a:r>
              <a:rPr lang="en-US" sz="1650" i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</a:t>
            </a: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is modulated by the growth and rupture of a </a:t>
            </a:r>
            <a:r>
              <a:rPr lang="en-US" sz="1650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conductive filament</a:t>
            </a: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within a metal-oxide layer.</a:t>
            </a:r>
            <a:endParaRPr lang="en-US" sz="165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413" y="7006233"/>
            <a:ext cx="319802" cy="3198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9466" y="6995517"/>
            <a:ext cx="3511153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SET process:</a:t>
            </a: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Positive voltage grows the filament → low resistance state (LRS)</a:t>
            </a:r>
            <a:endParaRPr lang="en-US" sz="1650" dirty="0">
              <a:solidFill>
                <a:schemeClr val="bg1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3043" y="7006233"/>
            <a:ext cx="319802" cy="3198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06095" y="6995517"/>
            <a:ext cx="3511153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RESET process:</a:t>
            </a: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Negative voltage ruptures the filament → high resistance state (HRS)</a:t>
            </a:r>
            <a:endParaRPr lang="en-US" sz="1650" dirty="0">
              <a:solidFill>
                <a:schemeClr val="bg1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9672" y="7006233"/>
            <a:ext cx="319802" cy="3198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372725" y="6995517"/>
            <a:ext cx="3511272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Analog switching:</a:t>
            </a: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Partial filament growth enables continuous conductance levels</a:t>
            </a:r>
            <a:endParaRPr lang="en-US" sz="165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3E58EF-BB2F-9371-5D88-22D5D8FD67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060" r="368"/>
          <a:stretch>
            <a:fillRect/>
          </a:stretch>
        </p:blipFill>
        <p:spPr>
          <a:xfrm>
            <a:off x="9959360" y="1313906"/>
            <a:ext cx="4338002" cy="4344219"/>
          </a:xfrm>
          <a:prstGeom prst="rect">
            <a:avLst/>
          </a:prstGeom>
        </p:spPr>
      </p:pic>
      <p:pic>
        <p:nvPicPr>
          <p:cNvPr id="7170" name="Picture 2" descr="An overview of critical applications of resistive random access memory -  Nanoscale Advances (RSC Publishing) DOI:10.1039/D4NA00158C">
            <a:extLst>
              <a:ext uri="{FF2B5EF4-FFF2-40B4-BE49-F238E27FC236}">
                <a16:creationId xmlns:a16="http://schemas.microsoft.com/office/drawing/2014/main" id="{9B1D8AF7-CC7D-9170-E047-7EE8DE4ED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29" y="1401459"/>
            <a:ext cx="4338002" cy="416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8CFAA21-5CF8-C475-E2DF-E6FA803C3810}"/>
              </a:ext>
            </a:extLst>
          </p:cNvPr>
          <p:cNvSpPr txBox="1"/>
          <p:nvPr/>
        </p:nvSpPr>
        <p:spPr>
          <a:xfrm>
            <a:off x="169088" y="5754061"/>
            <a:ext cx="4518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</a:rPr>
              <a:t>a) Cross-sectional view of an RRAM. 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</a:rPr>
              <a:t>b) Set/Reset Process c) Unipolar switching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</a:rPr>
              <a:t>(d) bipolar switching </a:t>
            </a:r>
            <a:r>
              <a:rPr lang="en-US" b="0" i="1" dirty="0">
                <a:solidFill>
                  <a:schemeClr val="bg1"/>
                </a:solidFill>
                <a:effectLst/>
                <a:latin typeface="Alexandria Light"/>
              </a:rPr>
              <a:t>I</a:t>
            </a:r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</a:rPr>
              <a:t>–</a:t>
            </a:r>
            <a:r>
              <a:rPr lang="en-US" b="0" i="1" dirty="0">
                <a:solidFill>
                  <a:schemeClr val="bg1"/>
                </a:solidFill>
                <a:effectLst/>
                <a:latin typeface="Alexandria Light"/>
              </a:rPr>
              <a:t>V</a:t>
            </a:r>
            <a:r>
              <a:rPr lang="en-US" b="0" i="0" dirty="0">
                <a:solidFill>
                  <a:schemeClr val="bg1"/>
                </a:solidFill>
                <a:effectLst/>
                <a:latin typeface="Alexandria Light"/>
              </a:rPr>
              <a:t> curve in an RRAM [4].</a:t>
            </a:r>
            <a:endParaRPr lang="en-IN" dirty="0">
              <a:solidFill>
                <a:schemeClr val="bg1"/>
              </a:solidFill>
              <a:latin typeface="Alexandria Ligh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2343DE-F135-39BE-01A9-35B3B4B09729}"/>
              </a:ext>
            </a:extLst>
          </p:cNvPr>
          <p:cNvSpPr txBox="1"/>
          <p:nvPr/>
        </p:nvSpPr>
        <p:spPr>
          <a:xfrm>
            <a:off x="9943038" y="5818949"/>
            <a:ext cx="4338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Alexandria Light"/>
              </a:rPr>
              <a:t>Designed custom RRAM Schematic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34616" y="437674"/>
            <a:ext cx="7674769" cy="138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Input Stimulus Design: Bio-Inspired VPWL</a:t>
            </a:r>
            <a:endParaRPr lang="en-US" sz="43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34616" y="2123241"/>
            <a:ext cx="7674769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Spikes are modeled using </a:t>
            </a:r>
            <a:r>
              <a:rPr lang="en-US" sz="1650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VPWL (Voltage Piecewise Linear)</a:t>
            </a: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sources that replicate the asymmetric shape of biological action potentials, enabling precise </a:t>
            </a:r>
            <a:r>
              <a:rPr lang="en-US" sz="1600" i="1" dirty="0" err="1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Δt</a:t>
            </a:r>
            <a:r>
              <a:rPr lang="en-US" sz="1600" i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overlap for STDP.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734616" y="3516511"/>
            <a:ext cx="7674769" cy="4465954"/>
          </a:xfrm>
          <a:prstGeom prst="roundRect">
            <a:avLst>
              <a:gd name="adj" fmla="val 214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42236" y="3524131"/>
            <a:ext cx="3829764" cy="2539365"/>
          </a:xfrm>
          <a:prstGeom prst="roundRect">
            <a:avLst>
              <a:gd name="adj" fmla="val 3472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52024" y="3733919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Active Head — 1.2V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952024" y="4201120"/>
            <a:ext cx="3410188" cy="132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Sharp rising edge exceeds the RRAM threshold voltage </a:t>
            </a:r>
            <a:r>
              <a:rPr lang="en-US" sz="16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V_{th}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triggering filament modulation. Acts as the "spike" event.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572000" y="3524131"/>
            <a:ext cx="3829764" cy="2539365"/>
          </a:xfrm>
          <a:prstGeom prst="rect">
            <a:avLst/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0" y="3524131"/>
            <a:ext cx="22860" cy="2539365"/>
          </a:xfrm>
          <a:prstGeom prst="roundRect">
            <a:avLst>
              <a:gd name="adj" fmla="val 385628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781788" y="3733919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Decaying Tail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4781788" y="4201120"/>
            <a:ext cx="3410188" cy="165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Gradual exponential fall creates a timing-sensitive overlap window. The degree of overlap between pre/post tails encodes </a:t>
            </a:r>
            <a:r>
              <a:rPr lang="en-US" sz="16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\Delta t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42236" y="6063496"/>
            <a:ext cx="7659529" cy="1547813"/>
          </a:xfrm>
          <a:prstGeom prst="rect">
            <a:avLst/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42236" y="6063496"/>
            <a:ext cx="7659529" cy="22860"/>
          </a:xfrm>
          <a:prstGeom prst="roundRect">
            <a:avLst>
              <a:gd name="adj" fmla="val 385628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52024" y="6273284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Timing Overlap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952024" y="6740485"/>
            <a:ext cx="7239953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integral of overlapping tails determines net conductance change — directly mapping biological STDP curves onto hardware.</a:t>
            </a:r>
          </a:p>
          <a:p>
            <a:pPr>
              <a:lnSpc>
                <a:spcPts val="2600"/>
              </a:lnSpc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Mathematical Intuition: </a:t>
            </a:r>
            <a:r>
              <a:rPr lang="el-GR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Δ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 ∝ exp(-|</a:t>
            </a:r>
            <a:r>
              <a:rPr lang="el-GR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Δ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t| / </a:t>
            </a:r>
            <a:r>
              <a:rPr lang="el-GR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τ)</a:t>
            </a:r>
            <a:endParaRPr lang="en-US" sz="165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86C8C9D-5A3D-D47E-83CF-DDC2B5029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054" y="85699"/>
            <a:ext cx="4939786" cy="42686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CBD075-9969-71AE-B6EF-7C31C9D177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01" t="7187" r="8487" b="3670"/>
          <a:stretch>
            <a:fillRect/>
          </a:stretch>
        </p:blipFill>
        <p:spPr>
          <a:xfrm>
            <a:off x="9302889" y="4821642"/>
            <a:ext cx="5168622" cy="298866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D34354F-965B-8403-49B4-0EA3318ADD22}"/>
              </a:ext>
            </a:extLst>
          </p:cNvPr>
          <p:cNvSpPr txBox="1"/>
          <p:nvPr/>
        </p:nvSpPr>
        <p:spPr>
          <a:xfrm>
            <a:off x="9401054" y="4354378"/>
            <a:ext cx="4939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lexandria Light"/>
              </a:rPr>
              <a:t>Input Piecewise Linear Voltage function [5]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32FF37-2EFC-7004-1395-67A8126420D3}"/>
              </a:ext>
            </a:extLst>
          </p:cNvPr>
          <p:cNvSpPr txBox="1"/>
          <p:nvPr/>
        </p:nvSpPr>
        <p:spPr>
          <a:xfrm>
            <a:off x="9385814" y="7813858"/>
            <a:ext cx="4939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lexandria Light"/>
              </a:rPr>
              <a:t>Generated Piecewise Linear Voltage function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20B54EB-DFB0-C8AA-6D3C-D2E547D9DFBD}"/>
              </a:ext>
            </a:extLst>
          </p:cNvPr>
          <p:cNvSpPr/>
          <p:nvPr/>
        </p:nvSpPr>
        <p:spPr>
          <a:xfrm>
            <a:off x="545963" y="6785869"/>
            <a:ext cx="3198134" cy="5175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D934D1A-DAFF-811E-5A8B-A03989921077}"/>
              </a:ext>
            </a:extLst>
          </p:cNvPr>
          <p:cNvSpPr/>
          <p:nvPr/>
        </p:nvSpPr>
        <p:spPr>
          <a:xfrm>
            <a:off x="630195" y="6017423"/>
            <a:ext cx="2977978" cy="5175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AF7729E-8B7E-6700-FB6B-9AD2423C2273}"/>
              </a:ext>
            </a:extLst>
          </p:cNvPr>
          <p:cNvSpPr/>
          <p:nvPr/>
        </p:nvSpPr>
        <p:spPr>
          <a:xfrm>
            <a:off x="852617" y="5197203"/>
            <a:ext cx="2545492" cy="5175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EA6D160-F123-DC7E-00B2-21BF2CE7163A}"/>
              </a:ext>
            </a:extLst>
          </p:cNvPr>
          <p:cNvSpPr/>
          <p:nvPr/>
        </p:nvSpPr>
        <p:spPr>
          <a:xfrm>
            <a:off x="630195" y="4385189"/>
            <a:ext cx="2977978" cy="5175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5D728E7-EAB6-75DF-CE7A-07001CFA32D8}"/>
              </a:ext>
            </a:extLst>
          </p:cNvPr>
          <p:cNvSpPr/>
          <p:nvPr/>
        </p:nvSpPr>
        <p:spPr>
          <a:xfrm>
            <a:off x="1000898" y="3523083"/>
            <a:ext cx="2286000" cy="5175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722709" y="607576"/>
            <a:ext cx="6906816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Verilog-A Modeling Logic</a:t>
            </a:r>
            <a:endParaRPr lang="en-US" sz="42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22709" y="1642867"/>
            <a:ext cx="3130272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State Variable Pipeline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22709" y="2179243"/>
            <a:ext cx="6340554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Three cascaded state variables implement the full STDP learning rule within a single Verilog-A module.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4E9031-7723-64D8-6AAC-B41563C53B36}"/>
              </a:ext>
            </a:extLst>
          </p:cNvPr>
          <p:cNvSpPr txBox="1"/>
          <p:nvPr/>
        </p:nvSpPr>
        <p:spPr>
          <a:xfrm>
            <a:off x="4485503" y="3396123"/>
            <a:ext cx="3880021" cy="1298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pl-PL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w(t) = ∫ (dw/dt) dt</a:t>
            </a:r>
          </a:p>
          <a:p>
            <a:pPr algn="ctr">
              <a:lnSpc>
                <a:spcPct val="150000"/>
              </a:lnSpc>
              <a:buNone/>
            </a:pPr>
            <a:r>
              <a:rPr lang="pl-PL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G = w·(1/RL) + (1 − w)·(1/RH)</a:t>
            </a:r>
          </a:p>
          <a:p>
            <a:pPr algn="ctr">
              <a:lnSpc>
                <a:spcPct val="150000"/>
              </a:lnSpc>
              <a:buNone/>
            </a:pPr>
            <a:r>
              <a:rPr lang="pl-PL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I = G·V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C4A6FA-0926-ADF5-121B-02E8DC2F63E2}"/>
              </a:ext>
            </a:extLst>
          </p:cNvPr>
          <p:cNvSpPr txBox="1"/>
          <p:nvPr/>
        </p:nvSpPr>
        <p:spPr>
          <a:xfrm>
            <a:off x="518517" y="3523083"/>
            <a:ext cx="3225580" cy="379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Voltage (TE–BE)</a:t>
            </a:r>
            <a:br>
              <a:rPr lang="en-IN" b="1" dirty="0">
                <a:latin typeface="Sora Light" panose="020B0604020202020204" charset="0"/>
                <a:cs typeface="Sora Light" panose="020B0604020202020204" charset="0"/>
              </a:rPr>
            </a:b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↓</a:t>
            </a:r>
            <a:br>
              <a:rPr lang="en-IN" b="1" dirty="0">
                <a:latin typeface="Sora Light" panose="020B0604020202020204" charset="0"/>
                <a:cs typeface="Sora Light" panose="020B0604020202020204" charset="0"/>
              </a:rPr>
            </a:b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Weight Update (</a:t>
            </a:r>
            <a:r>
              <a:rPr lang="en-IN" b="1" dirty="0" err="1">
                <a:latin typeface="Sora Light" panose="020B0604020202020204" charset="0"/>
                <a:cs typeface="Sora Light" panose="020B0604020202020204" charset="0"/>
              </a:rPr>
              <a:t>dw</a:t>
            </a: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/dt)</a:t>
            </a:r>
            <a:br>
              <a:rPr lang="en-IN" b="1" dirty="0">
                <a:latin typeface="Sora Light" panose="020B0604020202020204" charset="0"/>
                <a:cs typeface="Sora Light" panose="020B0604020202020204" charset="0"/>
              </a:rPr>
            </a:b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↓</a:t>
            </a:r>
            <a:br>
              <a:rPr lang="en-IN" b="1" dirty="0">
                <a:latin typeface="Sora Light" panose="020B0604020202020204" charset="0"/>
                <a:cs typeface="Sora Light" panose="020B0604020202020204" charset="0"/>
              </a:rPr>
            </a:b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Bound + Quantize</a:t>
            </a:r>
            <a:br>
              <a:rPr lang="en-IN" b="1" dirty="0">
                <a:latin typeface="Sora Light" panose="020B0604020202020204" charset="0"/>
                <a:cs typeface="Sora Light" panose="020B0604020202020204" charset="0"/>
              </a:rPr>
            </a:b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↓</a:t>
            </a:r>
            <a:br>
              <a:rPr lang="en-IN" b="1" dirty="0">
                <a:latin typeface="Sora Light" panose="020B0604020202020204" charset="0"/>
                <a:cs typeface="Sora Light" panose="020B0604020202020204" charset="0"/>
              </a:rPr>
            </a:b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Conductance Mapping</a:t>
            </a:r>
            <a:br>
              <a:rPr lang="en-IN" b="1" dirty="0">
                <a:latin typeface="Sora Light" panose="020B0604020202020204" charset="0"/>
                <a:cs typeface="Sora Light" panose="020B0604020202020204" charset="0"/>
              </a:rPr>
            </a:b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↓</a:t>
            </a:r>
            <a:br>
              <a:rPr lang="en-IN" b="1" dirty="0">
                <a:latin typeface="Sora Light" panose="020B0604020202020204" charset="0"/>
                <a:cs typeface="Sora Light" panose="020B0604020202020204" charset="0"/>
              </a:rPr>
            </a:br>
            <a:r>
              <a:rPr lang="en-IN" b="1" dirty="0">
                <a:latin typeface="Sora Light" panose="020B0604020202020204" charset="0"/>
                <a:cs typeface="Sora Light" panose="020B0604020202020204" charset="0"/>
              </a:rPr>
              <a:t>Current Output (I = G·V)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DF4D7D-69FA-6D52-62D1-1A172C418D29}"/>
              </a:ext>
            </a:extLst>
          </p:cNvPr>
          <p:cNvSpPr txBox="1"/>
          <p:nvPr/>
        </p:nvSpPr>
        <p:spPr>
          <a:xfrm>
            <a:off x="4386643" y="4965496"/>
            <a:ext cx="4139515" cy="254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Multi-level conductance (256 states)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Models LRS and HRS switching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Incremental weight updates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Enables synaptic learning </a:t>
            </a:r>
            <a:r>
              <a:rPr lang="en-US" altLang="en-US" dirty="0" err="1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behaviour</a:t>
            </a:r>
            <a:r>
              <a:rPr lang="en-US" altLang="en-US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C74A25B-6199-FD82-F605-9DF558AA36D6}"/>
              </a:ext>
            </a:extLst>
          </p:cNvPr>
          <p:cNvCxnSpPr/>
          <p:nvPr/>
        </p:nvCxnSpPr>
        <p:spPr>
          <a:xfrm>
            <a:off x="4485503" y="4844893"/>
            <a:ext cx="38800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41FD0211-2531-8AD1-644E-F485696C3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251" y="52387"/>
            <a:ext cx="4052344" cy="406241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C312783-098A-1B51-D467-6D44590CD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2249" y="4114799"/>
            <a:ext cx="4052346" cy="3975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76" y="526137"/>
            <a:ext cx="12367974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30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Results: Ideal </a:t>
            </a:r>
            <a:r>
              <a:rPr lang="en-US" sz="440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ΔG vs </a:t>
            </a:r>
            <a:r>
              <a:rPr lang="en-US" sz="4400" dirty="0" err="1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Δt</a:t>
            </a:r>
            <a:r>
              <a:rPr lang="en-US" sz="440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Curve</a:t>
            </a:r>
            <a:endParaRPr lang="en-US" sz="4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536" y="6246853"/>
            <a:ext cx="6324600" cy="1456610"/>
          </a:xfrm>
          <a:prstGeom prst="roundRect">
            <a:avLst>
              <a:gd name="adj" fmla="val 574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24" y="6561653"/>
            <a:ext cx="262295" cy="2097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7407" y="6502479"/>
            <a:ext cx="5432941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50" dirty="0">
                <a:solidFill>
                  <a:schemeClr val="tx2">
                    <a:lumMod val="50000"/>
                  </a:schemeClr>
                </a:solidFill>
                <a:latin typeface="Sora Light" panose="020B0604020202020204" charset="0"/>
                <a:cs typeface="Sora Light" panose="020B0604020202020204" charset="0"/>
              </a:rPr>
              <a:t>The following graph was generated using 701 values of </a:t>
            </a:r>
            <a:r>
              <a:rPr lang="en-US" sz="1650" dirty="0" err="1">
                <a:solidFill>
                  <a:schemeClr val="tx2">
                    <a:lumMod val="50000"/>
                  </a:schemeClr>
                </a:solidFill>
                <a:latin typeface="Sora Light" panose="020B0604020202020204" charset="0"/>
                <a:ea typeface="Sora Light" pitchFamily="34" charset="-122"/>
                <a:cs typeface="Sora Light" panose="020B0604020202020204" charset="0"/>
              </a:rPr>
              <a:t>Δt</a:t>
            </a:r>
            <a:r>
              <a:rPr lang="en-US" sz="1650" dirty="0">
                <a:solidFill>
                  <a:schemeClr val="tx2">
                    <a:lumMod val="50000"/>
                  </a:schemeClr>
                </a:solidFill>
                <a:latin typeface="Sora Light" panose="020B0604020202020204" charset="0"/>
                <a:ea typeface="Sora Light" pitchFamily="34" charset="-122"/>
                <a:cs typeface="Sora Light" panose="020B0604020202020204" charset="0"/>
              </a:rPr>
              <a:t> between 0.5 to 3.5us.</a:t>
            </a:r>
            <a:r>
              <a:rPr lang="en-US" sz="1650" dirty="0">
                <a:solidFill>
                  <a:schemeClr val="tx2">
                    <a:lumMod val="50000"/>
                  </a:schemeClr>
                </a:solidFill>
                <a:latin typeface="Sora Light" panose="020B0604020202020204" charset="0"/>
                <a:cs typeface="Sora Light" panose="020B0604020202020204" charset="0"/>
              </a:rPr>
              <a:t> </a:t>
            </a:r>
          </a:p>
          <a:p>
            <a:pPr>
              <a:lnSpc>
                <a:spcPts val="2600"/>
              </a:lnSpc>
            </a:pPr>
            <a:r>
              <a:rPr lang="en-US" sz="1650" dirty="0" err="1">
                <a:solidFill>
                  <a:schemeClr val="tx2">
                    <a:lumMod val="50000"/>
                  </a:schemeClr>
                </a:solidFill>
                <a:latin typeface="Sora Light" panose="020B0604020202020204" charset="0"/>
                <a:ea typeface="Sora Light" pitchFamily="34" charset="-122"/>
                <a:cs typeface="Sora Light" panose="020B0604020202020204" charset="0"/>
              </a:rPr>
              <a:t>Δt</a:t>
            </a:r>
            <a:r>
              <a:rPr lang="en-US" sz="1650" dirty="0">
                <a:solidFill>
                  <a:schemeClr val="tx2">
                    <a:lumMod val="50000"/>
                  </a:schemeClr>
                </a:solidFill>
                <a:latin typeface="Sora Light" panose="020B0604020202020204" charset="0"/>
                <a:ea typeface="Sora Light" pitchFamily="34" charset="-122"/>
                <a:cs typeface="Sora Light" panose="020B0604020202020204" charset="0"/>
              </a:rPr>
              <a:t> = </a:t>
            </a:r>
            <a:r>
              <a:rPr lang="en-US" sz="1650" i="1" dirty="0" err="1">
                <a:solidFill>
                  <a:schemeClr val="accent1">
                    <a:lumMod val="50000"/>
                  </a:schemeClr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</a:t>
            </a:r>
            <a:r>
              <a:rPr lang="en-US" sz="1650" i="1" baseline="-25000" dirty="0" err="1">
                <a:solidFill>
                  <a:schemeClr val="accent1">
                    <a:lumMod val="50000"/>
                  </a:schemeClr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</a:t>
            </a:r>
            <a:r>
              <a:rPr lang="en-US" sz="1650" i="1" dirty="0">
                <a:solidFill>
                  <a:schemeClr val="accent1">
                    <a:lumMod val="50000"/>
                  </a:schemeClr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 </a:t>
            </a:r>
            <a:r>
              <a:rPr lang="en-US" sz="1650" i="1" dirty="0" err="1">
                <a:solidFill>
                  <a:schemeClr val="accent1">
                    <a:lumMod val="50000"/>
                  </a:schemeClr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</a:t>
            </a:r>
            <a:r>
              <a:rPr lang="en-US" sz="1650" i="1" baseline="-25000" dirty="0" err="1">
                <a:solidFill>
                  <a:schemeClr val="accent1">
                    <a:lumMod val="50000"/>
                  </a:schemeClr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post</a:t>
            </a:r>
            <a:r>
              <a:rPr lang="en-US" sz="1650" i="1" dirty="0">
                <a:solidFill>
                  <a:schemeClr val="accent1">
                    <a:lumMod val="50000"/>
                  </a:schemeClr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650" dirty="0">
              <a:solidFill>
                <a:schemeClr val="accent1">
                  <a:lumMod val="50000"/>
                </a:schemeClr>
              </a:solidFill>
              <a:latin typeface="Sora Light" panose="020B0604020202020204" charset="0"/>
              <a:cs typeface="Sora Light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822644" y="1983700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Observations</a:t>
            </a:r>
            <a:endParaRPr lang="en-US" sz="215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822644" y="2557701"/>
            <a:ext cx="472202" cy="472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8498086" y="2629733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150" dirty="0">
                <a:solidFill>
                  <a:schemeClr val="bg1"/>
                </a:solidFill>
                <a:latin typeface="Alexandria Semi Bold" pitchFamily="34" charset="0"/>
                <a:cs typeface="Alexandria Semi Bold" pitchFamily="34" charset="-120"/>
              </a:rPr>
              <a:t>Exponential decay away from </a:t>
            </a:r>
            <a:r>
              <a:rPr lang="en-US" sz="2150" dirty="0" err="1">
                <a:solidFill>
                  <a:schemeClr val="bg1"/>
                </a:solidFill>
                <a:latin typeface="Alexandria Semi Bold" pitchFamily="34" charset="0"/>
                <a:cs typeface="Alexandria Semi Bold" pitchFamily="34" charset="-120"/>
              </a:rPr>
              <a:t>Δt</a:t>
            </a:r>
            <a:r>
              <a:rPr lang="en-US" sz="2150" dirty="0">
                <a:solidFill>
                  <a:schemeClr val="bg1"/>
                </a:solidFill>
                <a:latin typeface="Alexandria Semi Bold" pitchFamily="34" charset="0"/>
                <a:cs typeface="Alexandria Semi Bold" pitchFamily="34" charset="-120"/>
              </a:rPr>
              <a:t> = 0:</a:t>
            </a:r>
          </a:p>
        </p:txBody>
      </p:sp>
      <p:sp>
        <p:nvSpPr>
          <p:cNvPr id="13" name="Shape 10"/>
          <p:cNvSpPr/>
          <p:nvPr/>
        </p:nvSpPr>
        <p:spPr>
          <a:xfrm>
            <a:off x="7822644" y="4245888"/>
            <a:ext cx="472202" cy="472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8498086" y="4317921"/>
            <a:ext cx="4104084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Symmetric Learning Window</a:t>
            </a:r>
            <a:endParaRPr lang="en-US" sz="215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98086" y="4866442"/>
            <a:ext cx="5649158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LTP and LTD lobes are well-balanced, confirming correct </a:t>
            </a:r>
            <a:r>
              <a:rPr lang="en-US" sz="1650" i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\</a:t>
            </a:r>
            <a:r>
              <a:rPr lang="en-US" sz="1650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 |</a:t>
            </a:r>
            <a:r>
              <a:rPr lang="en-US" sz="1650" dirty="0" err="1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Δt</a:t>
            </a:r>
            <a:r>
              <a:rPr lang="en-US" sz="1650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| </a:t>
            </a:r>
            <a:r>
              <a:rPr lang="en-US" sz="16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centering and VPWL overlap logic.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822644" y="5934075"/>
            <a:ext cx="472202" cy="472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98086" y="6006108"/>
            <a:ext cx="2919889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Initial Filament Condition</a:t>
            </a:r>
          </a:p>
        </p:txBody>
      </p:sp>
      <p:sp>
        <p:nvSpPr>
          <p:cNvPr id="18" name="Text 15"/>
          <p:cNvSpPr/>
          <p:nvPr/>
        </p:nvSpPr>
        <p:spPr>
          <a:xfrm>
            <a:off x="8498086" y="6554629"/>
            <a:ext cx="5649158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Sora Light" pitchFamily="34" charset="0"/>
                <a:cs typeface="Sora Light" pitchFamily="34" charset="-120"/>
              </a:rPr>
              <a:t>Simulation has been started at 50% filament to create symmetrical graph. </a:t>
            </a:r>
            <a:endParaRPr lang="en-US" sz="165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45F49BC-241F-4EA1-9450-CCED41F1DA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21" t="5675" r="6455" b="2000"/>
          <a:stretch>
            <a:fillRect/>
          </a:stretch>
        </p:blipFill>
        <p:spPr>
          <a:xfrm>
            <a:off x="413862" y="1472088"/>
            <a:ext cx="6465067" cy="37313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D0F77D9-1274-541B-36F1-C9528F70F9A5}"/>
              </a:ext>
            </a:extLst>
          </p:cNvPr>
          <p:cNvSpPr txBox="1"/>
          <p:nvPr/>
        </p:nvSpPr>
        <p:spPr>
          <a:xfrm>
            <a:off x="8444610" y="3096220"/>
            <a:ext cx="5756109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1650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As |</a:t>
            </a:r>
            <a:r>
              <a:rPr lang="en-US" sz="1650" dirty="0" err="1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Δt</a:t>
            </a:r>
            <a:r>
              <a:rPr lang="en-US" sz="1650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| increases, ΔG approaches zero, meaning distant spikes have negligible influence on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535" y="488156"/>
            <a:ext cx="5527357" cy="489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25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Results: Quantized Graph</a:t>
            </a:r>
            <a:endParaRPr lang="en-US" sz="42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6535" y="1479168"/>
            <a:ext cx="4284464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From Analog Conductance to Digital Levels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56535" y="1988523"/>
            <a:ext cx="6222999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Physical RRAM devices exhibit </a:t>
            </a:r>
            <a:r>
              <a:rPr lang="en-US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conductance</a:t>
            </a:r>
            <a:r>
              <a:rPr lang="en-US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but digital systems require discrete weight representations. This presentation bridges the gap through a </a:t>
            </a:r>
            <a:r>
              <a:rPr lang="en-US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10-bit </a:t>
            </a:r>
            <a:r>
              <a:rPr lang="en-US" b="1" dirty="0" err="1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quantisation</a:t>
            </a:r>
            <a:r>
              <a:rPr lang="en-US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scheme</a:t>
            </a:r>
            <a:r>
              <a:rPr lang="en-US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that maps analogue </a:t>
            </a:r>
            <a:r>
              <a:rPr lang="en-US" i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</a:t>
            </a:r>
            <a:r>
              <a:rPr lang="en-US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1024 discrete levels.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756535" y="6704767"/>
            <a:ext cx="4000816" cy="1036677"/>
          </a:xfrm>
          <a:prstGeom prst="roundRect">
            <a:avLst>
              <a:gd name="adj" fmla="val 6035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4"/>
          <p:cNvSpPr/>
          <p:nvPr/>
        </p:nvSpPr>
        <p:spPr>
          <a:xfrm>
            <a:off x="920723" y="6868954"/>
            <a:ext cx="1959888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10-Bit Architecture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20723" y="7175302"/>
            <a:ext cx="3209568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2^{10} = 1024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levels spanning </a:t>
            </a:r>
            <a:r>
              <a:rPr lang="en-US" sz="1150" i="1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</a:t>
            </a:r>
            <a:r>
              <a:rPr lang="en-US" sz="1150" i="1" baseline="-250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min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</a:t>
            </a:r>
            <a:r>
              <a:rPr lang="en-US" sz="1150" i="1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</a:t>
            </a:r>
            <a:r>
              <a:rPr lang="en-US" sz="1150" i="1" baseline="-250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max</a:t>
            </a:r>
            <a:endParaRPr lang="en-US" sz="1150" baseline="-25000" dirty="0"/>
          </a:p>
        </p:txBody>
      </p:sp>
      <p:sp>
        <p:nvSpPr>
          <p:cNvPr id="10" name="Shape 6"/>
          <p:cNvSpPr/>
          <p:nvPr/>
        </p:nvSpPr>
        <p:spPr>
          <a:xfrm>
            <a:off x="5261839" y="6704767"/>
            <a:ext cx="4000816" cy="1036677"/>
          </a:xfrm>
          <a:prstGeom prst="roundRect">
            <a:avLst>
              <a:gd name="adj" fmla="val 6035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426026" y="6868954"/>
            <a:ext cx="1959888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Quantization Step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26026" y="7175302"/>
            <a:ext cx="3209687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1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Delta G = (</a:t>
            </a:r>
            <a:r>
              <a:rPr lang="en-US" sz="1150" i="1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</a:t>
            </a:r>
            <a:r>
              <a:rPr lang="en-US" sz="1150" i="1" baseline="-250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min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</a:t>
            </a:r>
            <a:r>
              <a:rPr lang="en-US" sz="1150" i="1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</a:t>
            </a:r>
            <a:r>
              <a:rPr lang="en-US" sz="1150" i="1" baseline="-250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max</a:t>
            </a:r>
            <a:r>
              <a:rPr lang="en-US" sz="1150" i="1" baseline="-25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11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)/ 1023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670369" y="6704767"/>
            <a:ext cx="4000816" cy="1036677"/>
          </a:xfrm>
          <a:prstGeom prst="roundRect">
            <a:avLst>
              <a:gd name="adj" fmla="val 6035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9834557" y="6868954"/>
            <a:ext cx="1959888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Rounding Logic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9834557" y="7175302"/>
            <a:ext cx="3209568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Nearest-level quantization preserves STDP curve fidelity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3B4EA1-DE38-880C-9671-21DF48BE51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3" t="7234" r="7940" b="3450"/>
          <a:stretch>
            <a:fillRect/>
          </a:stretch>
        </p:blipFill>
        <p:spPr>
          <a:xfrm>
            <a:off x="7262247" y="1448004"/>
            <a:ext cx="6961857" cy="401199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CB1729-4F69-15B9-26B4-67DD15B16BB5}"/>
              </a:ext>
            </a:extLst>
          </p:cNvPr>
          <p:cNvCxnSpPr/>
          <p:nvPr/>
        </p:nvCxnSpPr>
        <p:spPr>
          <a:xfrm>
            <a:off x="1705659" y="3583252"/>
            <a:ext cx="38800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2">
            <a:extLst>
              <a:ext uri="{FF2B5EF4-FFF2-40B4-BE49-F238E27FC236}">
                <a16:creationId xmlns:a16="http://schemas.microsoft.com/office/drawing/2014/main" id="{AE0047CC-2147-BDD3-58C5-F6FA41E216CC}"/>
              </a:ext>
            </a:extLst>
          </p:cNvPr>
          <p:cNvSpPr/>
          <p:nvPr/>
        </p:nvSpPr>
        <p:spPr>
          <a:xfrm>
            <a:off x="677441" y="3900275"/>
            <a:ext cx="6222999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E7BFD4-5B9E-D5BB-09C8-46BB4EB1ED0B}"/>
              </a:ext>
            </a:extLst>
          </p:cNvPr>
          <p:cNvSpPr txBox="1"/>
          <p:nvPr/>
        </p:nvSpPr>
        <p:spPr>
          <a:xfrm>
            <a:off x="677441" y="3788162"/>
            <a:ext cx="63020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High density of states helps minimize </a:t>
            </a:r>
            <a:r>
              <a:rPr lang="en-US" b="1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quantization noise</a:t>
            </a:r>
            <a:r>
              <a:rPr lang="en-US" dirty="0">
                <a:solidFill>
                  <a:schemeClr val="bg1"/>
                </a:solidFill>
                <a:latin typeface="Sora Light" panose="020B0604020202020204" charset="0"/>
                <a:cs typeface="Sora Light" panose="020B0604020202020204" charset="0"/>
              </a:rPr>
              <a:t>, which can otherwise lead to instability during the neural network training.</a:t>
            </a:r>
            <a:endParaRPr lang="en-IN" dirty="0">
              <a:solidFill>
                <a:schemeClr val="bg1"/>
              </a:solidFill>
              <a:latin typeface="Sora Light" panose="020B0604020202020204" charset="0"/>
              <a:cs typeface="Sora Light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270629" y="2791420"/>
            <a:ext cx="4362331" cy="612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400" b="1" dirty="0"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Conclusion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5400" b="1" dirty="0"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&amp; Future Scope</a:t>
            </a:r>
            <a:endParaRPr lang="en-US" sz="5400" b="1" dirty="0"/>
          </a:p>
        </p:txBody>
      </p:sp>
      <p:sp>
        <p:nvSpPr>
          <p:cNvPr id="6" name="Text 2"/>
          <p:cNvSpPr/>
          <p:nvPr/>
        </p:nvSpPr>
        <p:spPr>
          <a:xfrm>
            <a:off x="6138029" y="1004649"/>
            <a:ext cx="7840742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work demonstrates a </a:t>
            </a:r>
            <a:r>
              <a:rPr lang="en-US" sz="1450" b="1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Verilog-A framework</a:t>
            </a:r>
            <a:r>
              <a:rPr lang="en-US" sz="145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for STDP learning in RRAM-based synapses, bridging biological accuracy with digital storage constraints.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6138029" y="1738432"/>
            <a:ext cx="7840742" cy="1343501"/>
          </a:xfrm>
          <a:prstGeom prst="roundRect">
            <a:avLst>
              <a:gd name="adj" fmla="val 58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331744" y="1932146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Biological Fidelity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331744" y="2334339"/>
            <a:ext cx="7453312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latin typeface="Sora Light" pitchFamily="34" charset="0"/>
                <a:ea typeface="Sora Light" pitchFamily="34" charset="-122"/>
                <a:cs typeface="Sora Light" pitchFamily="34" charset="-120"/>
              </a:rPr>
              <a:t>VPWL-driven STDP faithfully reproduces the LTP/LTD learning window in hardware.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138029" y="3241834"/>
            <a:ext cx="7840742" cy="1343501"/>
          </a:xfrm>
          <a:prstGeom prst="roundRect">
            <a:avLst>
              <a:gd name="adj" fmla="val 58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6331744" y="3435548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Digital Integration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331744" y="3837742"/>
            <a:ext cx="7453312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latin typeface="Sora Light" pitchFamily="34" charset="0"/>
                <a:ea typeface="Sora Light" pitchFamily="34" charset="-122"/>
                <a:cs typeface="Sora Light" pitchFamily="34" charset="-120"/>
              </a:rPr>
              <a:t>10-bit quantization enables deployment in digital neuromorphic systems with minimal precision loss.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138029" y="4745236"/>
            <a:ext cx="7840742" cy="1066562"/>
          </a:xfrm>
          <a:prstGeom prst="roundRect">
            <a:avLst>
              <a:gd name="adj" fmla="val 733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6331744" y="4938951"/>
            <a:ext cx="260199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Edge AI Applications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331744" y="5341144"/>
            <a:ext cx="7453312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Scalable to crossbar arrays for on-chip learning in low-power edge devices.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138029" y="5971699"/>
            <a:ext cx="7840742" cy="1343501"/>
          </a:xfrm>
          <a:prstGeom prst="roundRect">
            <a:avLst>
              <a:gd name="adj" fmla="val 58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331744" y="6165413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Future Directions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331744" y="6567607"/>
            <a:ext cx="7453312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Multi-level cell variability modeling, array-level simulations, and FPGA co-emulation.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8CAD33-25B5-0D87-D11F-8B9355896C58}"/>
              </a:ext>
            </a:extLst>
          </p:cNvPr>
          <p:cNvSpPr/>
          <p:nvPr/>
        </p:nvSpPr>
        <p:spPr>
          <a:xfrm>
            <a:off x="12776886" y="7537622"/>
            <a:ext cx="1767017" cy="605481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6925E-827A-FB46-5FF7-F912303B0559}"/>
              </a:ext>
            </a:extLst>
          </p:cNvPr>
          <p:cNvSpPr txBox="1"/>
          <p:nvPr/>
        </p:nvSpPr>
        <p:spPr>
          <a:xfrm>
            <a:off x="197708" y="247135"/>
            <a:ext cx="14037276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5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References</a:t>
            </a:r>
            <a:endParaRPr lang="en-US" sz="4250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FBA67-9170-9174-690C-A7FF733E1AB8}"/>
              </a:ext>
            </a:extLst>
          </p:cNvPr>
          <p:cNvSpPr txBox="1"/>
          <p:nvPr/>
        </p:nvSpPr>
        <p:spPr>
          <a:xfrm>
            <a:off x="197708" y="1266027"/>
            <a:ext cx="140372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[1]“Neuromorphic Hardware and Computing 2024,” Nature, May 06, 2024. Available: https://www.nature.com/collections/jaidjgeceb/content/brain-inspired-computing-and-algorithms. [Accessed: Apr. 19, 2026]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[2] 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S. Choi, S. Ham, and G. Wang, “Memristor Synapses for Neuromorphic Computing,” </a:t>
            </a:r>
            <a:r>
              <a:rPr lang="en-US" altLang="en-US" i="1" dirty="0" err="1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IntechOpen</a:t>
            </a:r>
            <a:r>
              <a:rPr lang="en-US" altLang="en-US" i="1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 eBooks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, Mar. 2019, </a:t>
            </a:r>
            <a:r>
              <a:rPr lang="en-US" altLang="en-US" dirty="0" err="1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doi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: 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https://doi.org/10.5772/intechopen.85301</a:t>
            </a:r>
            <a:endParaRPr lang="en-US" altLang="en-US" dirty="0">
              <a:solidFill>
                <a:schemeClr val="bg1"/>
              </a:solidFill>
              <a:latin typeface="Alexandria Light"/>
              <a:cs typeface="Sora Light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[3]M. Prezioso </a:t>
            </a:r>
            <a:r>
              <a:rPr lang="en-US" altLang="en-US" i="1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et al.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, “Spike-timing-dependent plasticity learning of coincidence detection with passively integrated </a:t>
            </a:r>
            <a:r>
              <a:rPr lang="en-US" altLang="en-US" dirty="0" err="1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memristive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 circuits,” </a:t>
            </a:r>
            <a:r>
              <a:rPr lang="en-US" altLang="en-US" i="1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Nature Communications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, vol. 9, no. 1, Dec. 2018, </a:t>
            </a:r>
            <a:r>
              <a:rPr lang="en-US" altLang="en-US" dirty="0" err="1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doi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: </a:t>
            </a:r>
            <a:r>
              <a:rPr lang="en-US" altLang="en-US" dirty="0">
                <a:solidFill>
                  <a:srgbClr val="0563C1"/>
                </a:solidFill>
                <a:latin typeface="Alexandria Light"/>
                <a:cs typeface="Sora Light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s41467-018-07757-y</a:t>
            </a:r>
            <a:endParaRPr lang="en-US" altLang="en-US" dirty="0">
              <a:solidFill>
                <a:schemeClr val="bg1"/>
              </a:solidFill>
              <a:latin typeface="Alexandria Light"/>
              <a:cs typeface="Sora Light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[4]</a:t>
            </a:r>
            <a:r>
              <a:rPr lang="en-US" altLang="en-US" dirty="0">
                <a:solidFill>
                  <a:schemeClr val="bg1"/>
                </a:solidFill>
                <a:latin typeface="Alexandria Light"/>
              </a:rPr>
              <a:t>Furqan Zahoor </a:t>
            </a:r>
            <a:r>
              <a:rPr lang="en-US" altLang="en-US" i="1" dirty="0">
                <a:solidFill>
                  <a:schemeClr val="bg1"/>
                </a:solidFill>
                <a:latin typeface="Alexandria Light"/>
              </a:rPr>
              <a:t>et al.</a:t>
            </a:r>
            <a:r>
              <a:rPr lang="en-US" altLang="en-US" dirty="0">
                <a:solidFill>
                  <a:schemeClr val="bg1"/>
                </a:solidFill>
                <a:latin typeface="Alexandria Light"/>
              </a:rPr>
              <a:t>, “An overview of critical applications of resistive random access memory,” </a:t>
            </a:r>
            <a:r>
              <a:rPr lang="en-US" altLang="en-US" i="1" dirty="0">
                <a:solidFill>
                  <a:schemeClr val="bg1"/>
                </a:solidFill>
                <a:latin typeface="Alexandria Light"/>
              </a:rPr>
              <a:t>Nanoscale Advances</a:t>
            </a:r>
            <a:r>
              <a:rPr lang="en-US" altLang="en-US" dirty="0">
                <a:solidFill>
                  <a:schemeClr val="bg1"/>
                </a:solidFill>
                <a:latin typeface="Alexandria Light"/>
              </a:rPr>
              <a:t>, Jan. 2024, </a:t>
            </a:r>
            <a:r>
              <a:rPr lang="en-US" altLang="en-US" dirty="0" err="1">
                <a:solidFill>
                  <a:schemeClr val="bg1"/>
                </a:solidFill>
                <a:latin typeface="Alexandria Light"/>
              </a:rPr>
              <a:t>doi</a:t>
            </a:r>
            <a:r>
              <a:rPr lang="en-US" altLang="en-US" dirty="0">
                <a:solidFill>
                  <a:schemeClr val="bg1"/>
                </a:solidFill>
                <a:latin typeface="Alexandria Light"/>
              </a:rPr>
              <a:t>: https://doi.org/10.1039/d4na00158c. Available: https://pubs.rsc.org/en/content/articlelanding/2024/na/d4na00158c. [Accessed: Nov. 08, 2024]</a:t>
            </a:r>
            <a:endParaRPr lang="en-US" altLang="en-US" dirty="0">
              <a:solidFill>
                <a:schemeClr val="bg1"/>
              </a:solidFill>
              <a:latin typeface="Alexandria Light"/>
              <a:cs typeface="Sora Light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[5] G. Bi and M. Poo, “Synaptic Modifications in Cultured Hippocampal Neurons: Dependence on Spike Timing, Synaptic Strength, and Postsynaptic Cell Type,” </a:t>
            </a:r>
            <a:r>
              <a:rPr lang="en-US" altLang="en-US" i="1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The Journal of Neuroscience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, vol. 18, no. 24, pp. 10464–10472, Dec. 1998, </a:t>
            </a:r>
            <a:r>
              <a:rPr lang="en-US" altLang="en-US" dirty="0" err="1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doi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</a:rPr>
              <a:t>: https://doi.org/10.1523/jneurosci.18-24-10464.1998. Available: </a:t>
            </a:r>
            <a:r>
              <a:rPr lang="en-US" altLang="en-US" dirty="0">
                <a:solidFill>
                  <a:schemeClr val="bg1"/>
                </a:solidFill>
                <a:latin typeface="Alexandria Light"/>
                <a:cs typeface="Sora Light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https://www.jneurosci.org/content/jneuro/18/24/10464.full.pdf</a:t>
            </a:r>
            <a:endParaRPr lang="en-US" altLang="en-US" dirty="0">
              <a:solidFill>
                <a:schemeClr val="bg1"/>
              </a:solidFill>
              <a:latin typeface="Alexandria Light"/>
              <a:cs typeface="Sora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479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1221</Words>
  <Application>Microsoft Office PowerPoint</Application>
  <PresentationFormat>Custom</PresentationFormat>
  <Paragraphs>105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Alexandria Light</vt:lpstr>
      <vt:lpstr>Alexandria Semi Bold</vt:lpstr>
      <vt:lpstr>Arial</vt:lpstr>
      <vt:lpstr>Sora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Nirjara Mehta</dc:creator>
  <cp:lastModifiedBy>Nirjara Mehta</cp:lastModifiedBy>
  <cp:revision>2</cp:revision>
  <dcterms:created xsi:type="dcterms:W3CDTF">2026-04-19T09:59:25Z</dcterms:created>
  <dcterms:modified xsi:type="dcterms:W3CDTF">2026-04-19T21:17:33Z</dcterms:modified>
</cp:coreProperties>
</file>